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64" r:id="rId4"/>
    <p:sldId id="265" r:id="rId5"/>
    <p:sldId id="258" r:id="rId6"/>
    <p:sldId id="260" r:id="rId7"/>
    <p:sldId id="261" r:id="rId8"/>
    <p:sldId id="259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96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5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6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528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7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66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20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833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462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82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21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9861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395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343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96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162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766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E4EB0E7-EC70-41A1-9034-DE231022BADD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D2AD9-F1E4-470E-9617-107D03338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571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CFE5-79F2-39B3-0128-59F885B95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782425"/>
            <a:ext cx="7766936" cy="3268411"/>
          </a:xfrm>
        </p:spPr>
        <p:txBody>
          <a:bodyPr/>
          <a:lstStyle/>
          <a:p>
            <a:r>
              <a:rPr lang="en-IN" b="1" dirty="0"/>
              <a:t>Bootstrap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488844-0693-E420-431C-B111B4B17A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146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BFF4-EDD1-54DF-1EB3-9C6BB836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D148B-F0ED-8F3A-3CE4-BC2D2776E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 is an open – source front-end Frame-Work.</a:t>
            </a:r>
          </a:p>
          <a:p>
            <a:r>
              <a:rPr lang="en-US" dirty="0"/>
              <a:t>It is for Creating responsive websites and web applications.</a:t>
            </a:r>
          </a:p>
          <a:p>
            <a:r>
              <a:rPr lang="en-US" dirty="0"/>
              <a:t>Originally created by Twitter in 2011 → now maintained by open-source community</a:t>
            </a:r>
          </a:p>
          <a:p>
            <a:r>
              <a:rPr lang="en-US" dirty="0"/>
              <a:t>It Contains HTML, CSS and JavaScript.</a:t>
            </a:r>
          </a:p>
          <a:p>
            <a:r>
              <a:rPr lang="en-IN" dirty="0"/>
              <a:t>Latest versions (Bootstrap 5+) focus on modern CSS</a:t>
            </a:r>
            <a:endParaRPr lang="en-US" dirty="0"/>
          </a:p>
          <a:p>
            <a:r>
              <a:rPr lang="en-US" dirty="0"/>
              <a:t>Mobile-first approach.</a:t>
            </a:r>
          </a:p>
          <a:p>
            <a:r>
              <a:rPr lang="en-US" dirty="0"/>
              <a:t>Single (responsive) grid system.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For More Info: getbootstrap.com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416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9090-B9E6-9014-5C8F-CFD2A07D3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Bootstrap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F8FD4-EFD4-D5F5-2358-6DD498712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Rapid Development</a:t>
            </a:r>
            <a:r>
              <a:rPr lang="en-IN" dirty="0"/>
              <a:t> — build professional UI in minutes instead of days</a:t>
            </a:r>
          </a:p>
          <a:p>
            <a:r>
              <a:rPr lang="en-IN" b="1" dirty="0"/>
              <a:t>Responsive by Default</a:t>
            </a:r>
            <a:r>
              <a:rPr lang="en-IN" dirty="0"/>
              <a:t> — powerful 12-column grid system + breakpoints</a:t>
            </a:r>
          </a:p>
          <a:p>
            <a:r>
              <a:rPr lang="en-IN" b="1" dirty="0"/>
              <a:t>Pre-built Components</a:t>
            </a:r>
            <a:r>
              <a:rPr lang="en-IN" dirty="0"/>
              <a:t> — buttons, cards, navbars, modals, carousels, forms, alerts, etc.</a:t>
            </a:r>
          </a:p>
          <a:p>
            <a:r>
              <a:rPr lang="en-IN" b="1" dirty="0"/>
              <a:t>Consistency</a:t>
            </a:r>
            <a:r>
              <a:rPr lang="en-IN" dirty="0"/>
              <a:t> — uniform look across pages &amp; projects (great for teams)</a:t>
            </a:r>
          </a:p>
          <a:p>
            <a:r>
              <a:rPr lang="en-IN" b="1" dirty="0"/>
              <a:t>Cross-browser Compatibility</a:t>
            </a:r>
            <a:r>
              <a:rPr lang="en-IN" dirty="0"/>
              <a:t> — well-tested across modern browsers</a:t>
            </a:r>
          </a:p>
          <a:p>
            <a:r>
              <a:rPr lang="en-IN" b="1" dirty="0"/>
              <a:t>Customization</a:t>
            </a:r>
            <a:r>
              <a:rPr lang="en-IN" dirty="0"/>
              <a:t> — use Sass/SCSS variables, override classes, or use utility API</a:t>
            </a:r>
          </a:p>
          <a:p>
            <a:r>
              <a:rPr lang="en-IN" b="1" dirty="0"/>
              <a:t>JavaScript Plugins</a:t>
            </a:r>
            <a:r>
              <a:rPr lang="en-IN" dirty="0"/>
              <a:t> — interactive elements (dropdowns, tooltips, </a:t>
            </a:r>
            <a:r>
              <a:rPr lang="en-IN" dirty="0" err="1"/>
              <a:t>offcanvas</a:t>
            </a:r>
            <a:r>
              <a:rPr lang="en-IN" dirty="0"/>
              <a:t>, etc.) included</a:t>
            </a:r>
          </a:p>
          <a:p>
            <a:r>
              <a:rPr lang="en-IN" b="1" dirty="0"/>
              <a:t>Mobile-first</a:t>
            </a:r>
            <a:r>
              <a:rPr lang="en-IN" dirty="0"/>
              <a:t> approach + excellent documentation</a:t>
            </a:r>
          </a:p>
          <a:p>
            <a:endParaRPr lang="en-IN" dirty="0"/>
          </a:p>
          <a:p>
            <a:r>
              <a:rPr lang="en-IN" dirty="0"/>
              <a:t>For More Information:- https://www.w3schools.com/bootstrap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84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27A3-4541-7262-A15D-72248690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Bootstrap vs CSS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BFBA61-6632-E158-4FD8-588D82493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557273"/>
            <a:ext cx="7886094" cy="3881437"/>
          </a:xfrm>
        </p:spPr>
      </p:pic>
    </p:spTree>
    <p:extLst>
      <p:ext uri="{BB962C8B-B14F-4D97-AF65-F5344CB8AC3E}">
        <p14:creationId xmlns:p14="http://schemas.microsoft.com/office/powerpoint/2010/main" val="3653442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9EE4-009D-EF85-27EE-FED012B6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47642-3048-E36F-A8B1-76C5155CB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design that works properly on any resolution.</a:t>
            </a:r>
          </a:p>
          <a:p>
            <a:r>
              <a:rPr lang="en-US" dirty="0"/>
              <a:t>It majorly concerns with standard devices resolutions.</a:t>
            </a:r>
          </a:p>
          <a:p>
            <a:r>
              <a:rPr lang="en-US" dirty="0"/>
              <a:t>User friendly approach.</a:t>
            </a:r>
            <a:endParaRPr lang="en-IN" dirty="0"/>
          </a:p>
        </p:txBody>
      </p:sp>
      <p:pic>
        <p:nvPicPr>
          <p:cNvPr id="1026" name="Picture 2" descr="11,800+ Responsive Web Design Stock Photos, Pictures &amp; Royalty-Free Images  - iStock | Responsive website, Responsive design, Web design">
            <a:extLst>
              <a:ext uri="{FF2B5EF4-FFF2-40B4-BE49-F238E27FC236}">
                <a16:creationId xmlns:a16="http://schemas.microsoft.com/office/drawing/2014/main" id="{6DE4F43F-8A36-9A98-7FE0-4A5627B70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731" y="2870372"/>
            <a:ext cx="4380443" cy="3285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137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3139-AC8A-26C1-6192-D64F0703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 Design All Devices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419A03-ED83-ECFB-BA41-896205D46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86" y="1583704"/>
            <a:ext cx="7144327" cy="4141288"/>
          </a:xfrm>
        </p:spPr>
      </p:pic>
    </p:spTree>
    <p:extLst>
      <p:ext uri="{BB962C8B-B14F-4D97-AF65-F5344CB8AC3E}">
        <p14:creationId xmlns:p14="http://schemas.microsoft.com/office/powerpoint/2010/main" val="190684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272F-4935-426D-A5CD-884E9029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8E000-1FFC-FA5C-3C04-E65EA617E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 has a flexible grid system that works well on all devices, starting with mobile phones. It can expand up to 12 columns as the screen size gets bigger. It also has ready-made classes to help you design layouts easily.</a:t>
            </a:r>
          </a:p>
          <a:p>
            <a:r>
              <a:rPr lang="en-US" dirty="0"/>
              <a:t>The grid system helps you arrange your page by dividing it into rows and columns where you put your content.</a:t>
            </a:r>
          </a:p>
          <a:p>
            <a:r>
              <a:rPr lang="en-US" dirty="0"/>
              <a:t>The grid classes apply to devices with screen widths equal to or larger than certain sizes. For example, if you use a class for medium-sized screens (-md), it will also affect larger screens unless you add a class specifically for large screens (-lg-).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26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57C8-5C86-7370-7C6F-112FA59FB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Grid Classes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451CF-27F5-65BB-C3BF-A9CC5F45A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 small devices </a:t>
            </a:r>
            <a:r>
              <a:rPr lang="en-US" dirty="0" err="1"/>
              <a:t>i.e</a:t>
            </a:r>
            <a:r>
              <a:rPr lang="en-US" dirty="0"/>
              <a:t> phones (&lt;768px)</a:t>
            </a:r>
            <a:r>
              <a:rPr lang="en-IN" dirty="0"/>
              <a:t> symbol (</a:t>
            </a:r>
            <a:r>
              <a:rPr lang="en-US" dirty="0"/>
              <a:t>-</a:t>
            </a:r>
            <a:r>
              <a:rPr lang="en-US" dirty="0" err="1"/>
              <a:t>xs</a:t>
            </a:r>
            <a:r>
              <a:rPr lang="en-US" dirty="0"/>
              <a:t>-), column width(Auto).</a:t>
            </a:r>
          </a:p>
          <a:p>
            <a:r>
              <a:rPr lang="en-US" dirty="0"/>
              <a:t>Small Devices </a:t>
            </a:r>
            <a:r>
              <a:rPr lang="en-US" dirty="0" err="1"/>
              <a:t>i.e</a:t>
            </a:r>
            <a:r>
              <a:rPr lang="en-US" dirty="0"/>
              <a:t> Tablets (</a:t>
            </a:r>
            <a:r>
              <a:rPr lang="en-IN" dirty="0"/>
              <a:t>≥768px) symbol (-</a:t>
            </a:r>
            <a:r>
              <a:rPr lang="en-IN" dirty="0" err="1"/>
              <a:t>sm</a:t>
            </a:r>
            <a:r>
              <a:rPr lang="en-IN" dirty="0"/>
              <a:t>-), </a:t>
            </a:r>
            <a:r>
              <a:rPr lang="en-US" dirty="0"/>
              <a:t>column width(60px).</a:t>
            </a:r>
          </a:p>
          <a:p>
            <a:r>
              <a:rPr lang="en-US" dirty="0"/>
              <a:t>Medium Devices </a:t>
            </a:r>
            <a:r>
              <a:rPr lang="en-US" dirty="0" err="1"/>
              <a:t>i.e</a:t>
            </a:r>
            <a:r>
              <a:rPr lang="en-US" dirty="0"/>
              <a:t> Desktop (</a:t>
            </a:r>
            <a:r>
              <a:rPr lang="en-IN" dirty="0"/>
              <a:t>≥992px) symbol (-md-), </a:t>
            </a:r>
            <a:r>
              <a:rPr lang="en-US" dirty="0"/>
              <a:t>column width(78px).</a:t>
            </a:r>
          </a:p>
          <a:p>
            <a:r>
              <a:rPr lang="en-US" dirty="0"/>
              <a:t>Large Devices </a:t>
            </a:r>
            <a:r>
              <a:rPr lang="en-US" dirty="0" err="1"/>
              <a:t>i.e</a:t>
            </a:r>
            <a:r>
              <a:rPr lang="en-US" dirty="0"/>
              <a:t> Desktop (</a:t>
            </a:r>
            <a:r>
              <a:rPr lang="en-IN" dirty="0"/>
              <a:t>≥1200px) symbol (-</a:t>
            </a:r>
            <a:r>
              <a:rPr lang="en-IN" dirty="0" err="1"/>
              <a:t>lg</a:t>
            </a:r>
            <a:r>
              <a:rPr lang="en-IN" dirty="0"/>
              <a:t>-), </a:t>
            </a:r>
            <a:r>
              <a:rPr lang="en-US" dirty="0"/>
              <a:t>column width(95px).</a:t>
            </a:r>
          </a:p>
          <a:p>
            <a:r>
              <a:rPr lang="en-US" dirty="0"/>
              <a:t>Ex:- </a:t>
            </a:r>
            <a:r>
              <a:rPr lang="en-US" b="1" dirty="0"/>
              <a:t>&lt;div class="col-md-6"&gt; Content &lt;/div&gt;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1304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2BE8-6E07-621B-2375-8774C9DC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Grid System Example: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2D8E67-CD54-6BAB-27A1-F70950BC0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06" y="1930400"/>
            <a:ext cx="5699706" cy="1591616"/>
          </a:xfrm>
        </p:spPr>
      </p:pic>
    </p:spTree>
    <p:extLst>
      <p:ext uri="{BB962C8B-B14F-4D97-AF65-F5344CB8AC3E}">
        <p14:creationId xmlns:p14="http://schemas.microsoft.com/office/powerpoint/2010/main" val="622002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A5E26-3A60-CA39-F4C2-B4DA8E42C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Typography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ED77D-247F-47AE-A679-FEDE3BDE6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Bootstrap's </a:t>
            </a:r>
            <a:r>
              <a:rPr lang="en-US" b="1" dirty="0"/>
              <a:t>typography system</a:t>
            </a:r>
            <a:r>
              <a:rPr lang="en-US" dirty="0"/>
              <a:t> provides a consistent, readable, and modern foundation for text across websites and applications. It starts with sensible global defaults applied to &lt;body&gt; and &lt;p&gt; elements.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0130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826</TotalTime>
  <Words>462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Bootstrap Framework</vt:lpstr>
      <vt:lpstr>INTRODUCTION</vt:lpstr>
      <vt:lpstr>Importance Of Bootstrap</vt:lpstr>
      <vt:lpstr>Bootstrap vs CSS</vt:lpstr>
      <vt:lpstr>Responsive Design</vt:lpstr>
      <vt:lpstr>Responsive Design All Devices</vt:lpstr>
      <vt:lpstr>Grid System</vt:lpstr>
      <vt:lpstr>Grid Classes  </vt:lpstr>
      <vt:lpstr>Bootstrap Grid System Example:</vt:lpstr>
      <vt:lpstr>Bootstrap Typography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IT022_ BRAHMANJALI EMANI</dc:creator>
  <cp:lastModifiedBy>IT022_ BRAHMANJALI EMANI</cp:lastModifiedBy>
  <cp:revision>2</cp:revision>
  <dcterms:created xsi:type="dcterms:W3CDTF">2026-02-25T16:25:04Z</dcterms:created>
  <dcterms:modified xsi:type="dcterms:W3CDTF">2026-02-26T06:11:43Z</dcterms:modified>
</cp:coreProperties>
</file>